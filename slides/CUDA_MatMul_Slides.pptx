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Chart Title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Naive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256</c:v>
                  </c:pt>
                  <c:pt idx="1">
                    <c:v>512</c:v>
                  </c:pt>
                  <c:pt idx="2">
                    <c:v>1024</c:v>
                  </c:pt>
                  <c:pt idx="3">
                    <c:v>2048</c:v>
                  </c:pt>
                  <c:pt idx="4">
                    <c:v>4096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0.03</c:v>
                </c:pt>
                <c:pt idx="1">
                  <c:v>0.13</c:v>
                </c:pt>
                <c:pt idx="2">
                  <c:v>0.9</c:v>
                </c:pt>
                <c:pt idx="3">
                  <c:v>7.02</c:v>
                </c:pt>
                <c:pt idx="4">
                  <c:v>66.84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Tiled</c:v>
                </c:pt>
              </c:strCache>
            </c:strRef>
          </c:tx>
          <c:spPr>
            <a:solidFill>
              <a:srgbClr val="3B82F6"/>
            </a:solidFill>
            <a:ln w="2540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256</c:v>
                  </c:pt>
                  <c:pt idx="1">
                    <c:v>512</c:v>
                  </c:pt>
                  <c:pt idx="2">
                    <c:v>1024</c:v>
                  </c:pt>
                  <c:pt idx="3">
                    <c:v>2048</c:v>
                  </c:pt>
                  <c:pt idx="4">
                    <c:v>4096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0.03</c:v>
                </c:pt>
                <c:pt idx="1">
                  <c:v>0.09</c:v>
                </c:pt>
                <c:pt idx="2">
                  <c:v>0.55</c:v>
                </c:pt>
                <c:pt idx="3">
                  <c:v>4.11</c:v>
                </c:pt>
                <c:pt idx="4">
                  <c:v>33.35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cuBLAS</c:v>
                </c:pt>
              </c:strCache>
            </c:strRef>
          </c:tx>
          <c:spPr>
            <a:solidFill>
              <a:srgbClr val="22C55E"/>
            </a:solidFill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256</c:v>
                  </c:pt>
                  <c:pt idx="1">
                    <c:v>512</c:v>
                  </c:pt>
                  <c:pt idx="2">
                    <c:v>1024</c:v>
                  </c:pt>
                  <c:pt idx="3">
                    <c:v>2048</c:v>
                  </c:pt>
                  <c:pt idx="4">
                    <c:v>4096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0.04</c:v>
                </c:pt>
                <c:pt idx="1">
                  <c:v>0.05</c:v>
                </c:pt>
                <c:pt idx="2">
                  <c:v>0.18</c:v>
                </c:pt>
                <c:pt idx="3">
                  <c:v>1.26</c:v>
                </c:pt>
                <c:pt idx="4">
                  <c:v>7.24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Chart Title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Naive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256</c:v>
                  </c:pt>
                  <c:pt idx="1">
                    <c:v>512</c:v>
                  </c:pt>
                  <c:pt idx="2">
                    <c:v>1024</c:v>
                  </c:pt>
                  <c:pt idx="3">
                    <c:v>2048</c:v>
                  </c:pt>
                  <c:pt idx="4">
                    <c:v>4096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1092</c:v>
                </c:pt>
                <c:pt idx="1">
                  <c:v>2032</c:v>
                </c:pt>
                <c:pt idx="2">
                  <c:v>2397</c:v>
                </c:pt>
                <c:pt idx="3">
                  <c:v>2449</c:v>
                </c:pt>
                <c:pt idx="4">
                  <c:v>2056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Tiled</c:v>
                </c:pt>
              </c:strCache>
            </c:strRef>
          </c:tx>
          <c:spPr>
            <a:solidFill>
              <a:srgbClr val="3B82F6"/>
            </a:solidFill>
            <a:ln w="2540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256</c:v>
                  </c:pt>
                  <c:pt idx="1">
                    <c:v>512</c:v>
                  </c:pt>
                  <c:pt idx="2">
                    <c:v>1024</c:v>
                  </c:pt>
                  <c:pt idx="3">
                    <c:v>2048</c:v>
                  </c:pt>
                  <c:pt idx="4">
                    <c:v>4096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1253</c:v>
                </c:pt>
                <c:pt idx="1">
                  <c:v>2828</c:v>
                </c:pt>
                <c:pt idx="2">
                  <c:v>3935</c:v>
                </c:pt>
                <c:pt idx="3">
                  <c:v>4182</c:v>
                </c:pt>
                <c:pt idx="4">
                  <c:v>4122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cuBLAS</c:v>
                </c:pt>
              </c:strCache>
            </c:strRef>
          </c:tx>
          <c:spPr>
            <a:solidFill>
              <a:srgbClr val="22C55E"/>
            </a:solidFill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256</c:v>
                  </c:pt>
                  <c:pt idx="1">
                    <c:v>512</c:v>
                  </c:pt>
                  <c:pt idx="2">
                    <c:v>1024</c:v>
                  </c:pt>
                  <c:pt idx="3">
                    <c:v>2048</c:v>
                  </c:pt>
                  <c:pt idx="4">
                    <c:v>4096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936</c:v>
                </c:pt>
                <c:pt idx="1">
                  <c:v>5699</c:v>
                </c:pt>
                <c:pt idx="2">
                  <c:v>11916</c:v>
                </c:pt>
                <c:pt idx="3">
                  <c:v>13673</c:v>
                </c:pt>
                <c:pt idx="4">
                  <c:v>18992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Tiled / Naive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256</c:v>
                  </c:pt>
                  <c:pt idx="1">
                    <c:v>512</c:v>
                  </c:pt>
                  <c:pt idx="2">
                    <c:v>1024</c:v>
                  </c:pt>
                  <c:pt idx="3">
                    <c:v>2048</c:v>
                  </c:pt>
                  <c:pt idx="4">
                    <c:v>4096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1.15</c:v>
                </c:pt>
                <c:pt idx="1">
                  <c:v>1.39</c:v>
                </c:pt>
                <c:pt idx="2">
                  <c:v>1.64</c:v>
                </c:pt>
                <c:pt idx="3">
                  <c:v>1.71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cuBLAS / Naive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256</c:v>
                  </c:pt>
                  <c:pt idx="1">
                    <c:v>512</c:v>
                  </c:pt>
                  <c:pt idx="2">
                    <c:v>1024</c:v>
                  </c:pt>
                  <c:pt idx="3">
                    <c:v>2048</c:v>
                  </c:pt>
                  <c:pt idx="4">
                    <c:v>4096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0.75</c:v>
                </c:pt>
                <c:pt idx="1">
                  <c:v>2.6</c:v>
                </c:pt>
                <c:pt idx="2">
                  <c:v>5</c:v>
                </c:pt>
                <c:pt idx="3">
                  <c:v>5.57</c:v>
                </c:pt>
                <c:pt idx="4">
                  <c:v>9.23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Matrix Size 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Speedup (×)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project title, and what the three implementations are. (~30 sec)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GEMM is important and state the four goals clearly. (~1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tiers. Emphasise the 20x latency difference between shared and global memory — this is WHY tiling works. (~1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explain each approach. Focus on the key difference: where the data comes from (global vs shared). (~1.5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A100, the FP32 data type, and the warm-up methodology. (~45 sec)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over the two charts. Highlight that cuBLAS nearly hits theoretical peak, and that tiled is consistently ~2x faster than naive. (~1.5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cuBLAS is slower at N=256 due to overhead, but wins massively at large sizes. Tiled scales well but peaks at 2x — explain why that's still significant. (~1.5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real benchmark plot generated from results/benchmark.csv. Emphasise the trends: the tiled kernel improves over naive as N grows, while cuBLAS remains the fastest for large matrices. (~1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both cards. Key message: tiling is necessary but not sufficient for peak GPU performance. cuBLAS is the product of months of expert engineering. (~2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four conclusions clearly. End with the key lesson about memory access patterns. Thank the audience and invite questions. (~1.5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Matrix Multiplication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 ·  Tiled Shared Memory  ·  cuBLAS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24028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2402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224028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22402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24028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2402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Parallel Computing and GPU Programming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Gómez Morena  ·  June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github.com/ChemaCrema/Parallel_Programming_finalproject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Project Goals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Matrix Multiplication?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2N³ floating-point ops — scales cubically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Bottlenecked by memory bandwidth, not compute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 in ML, HPC, and scientific computing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access patterns are the key optimisation target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143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92040" y="1664208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166420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naive CUDA kernel (baseline)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2368296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368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236829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tiled shared memory kernel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3072384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3072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307238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both against cuBLAS (SOTA)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3776472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7764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37764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performance gap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 Hierarchy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51760" cy="3291840"/>
          </a:xfrm>
          <a:prstGeom prst="roundRect">
            <a:avLst>
              <a:gd name="adj" fmla="val 4828"/>
            </a:avLst>
          </a:prstGeom>
          <a:solidFill>
            <a:srgbClr val="0F766E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887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22860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057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cycle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7706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3044952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34838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3758184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KB/SM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2651760" cy="3291840"/>
          </a:xfrm>
          <a:prstGeom prst="roundRect">
            <a:avLst>
              <a:gd name="adj" fmla="val 4828"/>
            </a:avLst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46120" y="11887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(SRAM)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429000" y="1920240"/>
            <a:ext cx="22860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2057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6120" y="2331720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~20–30 cycles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27706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3044952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 TB/s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46120" y="34838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3758184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KB/SM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1097280"/>
            <a:ext cx="2651760" cy="3291840"/>
          </a:xfrm>
          <a:prstGeom prst="roundRect">
            <a:avLst>
              <a:gd name="adj" fmla="val 4828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1887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Memory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(DRAM / HBM2e)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55080" y="1920240"/>
            <a:ext cx="22860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2057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2331720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~400–800 cycles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27706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3044952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TB/s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72200" y="34838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3758184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GB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0040" y="4572000"/>
            <a:ext cx="8503920" cy="438912"/>
          </a:xfrm>
          <a:prstGeom prst="roundRect">
            <a:avLst>
              <a:gd name="adj" fmla="val 16667"/>
            </a:avLst>
          </a:prstGeom>
          <a:solidFill>
            <a:srgbClr val="CFFAFE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5720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Shared memory is ~20× faster than global memory and can be explicitly managed by the programmer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Implementations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788920" cy="3886200"/>
          </a:xfrm>
          <a:prstGeom prst="roundRect">
            <a:avLst>
              <a:gd name="adj" fmla="val 4262"/>
            </a:avLst>
          </a:prstGeom>
          <a:solidFill>
            <a:srgbClr val="FEE2E2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8328" y="1143000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Naive Kernel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8328" y="1691640"/>
            <a:ext cx="2578608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thread → 1 output element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full row of A + column of B from global memory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O(N³) global memory reads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size: 16×16 threads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788920" cy="3886200"/>
          </a:xfrm>
          <a:prstGeom prst="roundRect">
            <a:avLst>
              <a:gd name="adj" fmla="val 4262"/>
            </a:avLst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1143000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Tiled Kernel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10128" y="1691640"/>
            <a:ext cx="2578608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matrices into 32×32 tiles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cooperatively load tiles into shared memory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element reused 32× before eviction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memory traffic ÷ 32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051560"/>
            <a:ext cx="2788920" cy="3886200"/>
          </a:xfrm>
          <a:prstGeom prst="roundRect">
            <a:avLst>
              <a:gd name="adj" fmla="val 4262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81928" y="1143000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cuBLAS (SOTA)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81928" y="1691640"/>
            <a:ext cx="2578608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NVIDIA's optimised BLAS library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Core utilization (TF32/FP16)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buffering + software pipelining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Warp-level matrix instructions (WMMA)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93192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A100-SXM4-40GB (Mahti, CSC Finland)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 (Ampere)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GB HBM2e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 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-O3  -arch=sm_80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 sizes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· 512 · 1024 · 2048 · 4096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float32 (FP32)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 Events (GPU-side only, excludes H2D/D2H)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Tile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32×32   |   Block size (naive): 16×16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pass executed before each timed run to eliminate library initialisation overhead.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Execution Time &amp; Throughput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297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100584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480560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/>
        </p:spPr>
      </p:sp>
      <p:sp>
        <p:nvSpPr>
          <p:cNvPr id="7" name="Text 3"/>
          <p:cNvSpPr/>
          <p:nvPr/>
        </p:nvSpPr>
        <p:spPr>
          <a:xfrm>
            <a:off x="384048" y="44805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Tiled reaches 4,122 GFLOPS vs Naive 2,056 GFLOPS at N=4096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709160" y="4480560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/>
        </p:spPr>
      </p:sp>
      <p:sp>
        <p:nvSpPr>
          <p:cNvPr id="9" name="Text 5"/>
          <p:cNvSpPr/>
          <p:nvPr/>
        </p:nvSpPr>
        <p:spPr>
          <a:xfrm>
            <a:off x="4818888" y="44805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cuBLAS achieves 18,992 GFLOPS, close to A100 FP32 peak 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over Naive Kernel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05156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72200" y="1051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2.00×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17220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Tiled speedup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N=4096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72200" y="2313432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72200" y="23134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9.23×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172200" y="29535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cuBLAS speedup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N=4096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2200" y="3575304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EF9C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72200" y="357530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&lt;10⁻⁴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172200" y="42153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element-wise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vs naive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Visualization</a:t>
            </a:r>
            <a:endParaRPr lang="en-US" sz="2800" dirty="0"/>
          </a:p>
        </p:txBody>
      </p:sp>
      <p:pic>
        <p:nvPicPr>
          <p:cNvPr id="4" name="Image 0" descr="/mnt/data/results/benchmark_pl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8503920" cy="3794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Performance comparison between the naive kernel, the tiled shared-memory kernel and cuBLAS on an NVIDIA A100 GPU.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Why the Performance Gap?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977640"/>
          </a:xfrm>
          <a:prstGeom prst="roundRect">
            <a:avLst>
              <a:gd name="adj" fmla="val 2989"/>
            </a:avLst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Tiling Helps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matrix element loaded once per tile, reused 32×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global memory reads by ~32× for large 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arithmetic intensity → more compute-bound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grows with N (1.15× at 256, 2× at 4096)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114800" cy="3977640"/>
          </a:xfrm>
          <a:prstGeom prst="roundRect">
            <a:avLst>
              <a:gd name="adj" fmla="val 2989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cuBLAS Is 4.6× Faster Than Tiled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57276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Cores: hardware matrix units (TF32/FP16)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Register-level tiling (8×8 per thread)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buffering hides memory latency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pipelining: overlaps load + compute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Architecture-specific warp scheduling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24712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12471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kernel: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12471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but memory-bound. Achieves ~2 TFLOPS for large matrices, limited by global memory bandwidth.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08483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Tiled kernel: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208483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tiling consistently improves performance, achieving up to 2× speedup and reaching 4.1 TFLOPS by reducing global memory traffic.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044952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04495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cuBLAS: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304495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18.99 TFLOPS, close to A100 FP32 peak performance, thanks to tensor cores and expert-level optimisations.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4005072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005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00507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40050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performance requires not just parallelism, but maximising data reuse and minimising global memory accesses.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github.com/ChemaCrema/Parallel_Programming_finalproject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CUDA Matrix Multiplication</dc:title>
  <dc:subject>PptxGenJS Presentation</dc:subject>
  <dc:creator>Marcos Gómez Morena</dc:creator>
  <cp:lastModifiedBy>Marcos Gómez Morena</cp:lastModifiedBy>
  <cp:revision>1</cp:revision>
  <dcterms:created xsi:type="dcterms:W3CDTF">2026-06-22T12:36:51Z</dcterms:created>
  <dcterms:modified xsi:type="dcterms:W3CDTF">2026-06-22T12:36:51Z</dcterms:modified>
</cp:coreProperties>
</file>